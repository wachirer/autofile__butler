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drawings/drawing1.xml" ContentType="application/vnd.openxmlformats-officedocument.drawingml.chartshapes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charts/chart9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charts/chart10.xml" ContentType="application/vnd.openxmlformats-officedocument.drawingml.chart+xml"/>
  <Override PartName="/ppt/charts/style10.xml" ContentType="application/vnd.ms-office.chartstyle+xml"/>
  <Override PartName="/ppt/charts/colors10.xml" ContentType="application/vnd.ms-office.chartcolorstyle+xml"/>
  <Override PartName="/ppt/charts/chart11.xml" ContentType="application/vnd.openxmlformats-officedocument.drawingml.chart+xml"/>
  <Override PartName="/ppt/charts/style11.xml" ContentType="application/vnd.ms-office.chartstyle+xml"/>
  <Override PartName="/ppt/charts/colors11.xml" ContentType="application/vnd.ms-office.chartcolorstyle+xml"/>
  <Override PartName="/ppt/charts/chart12.xml" ContentType="application/vnd.openxmlformats-officedocument.drawingml.chart+xml"/>
  <Override PartName="/ppt/charts/style12.xml" ContentType="application/vnd.ms-office.chartstyle+xml"/>
  <Override PartName="/ppt/charts/colors12.xml" ContentType="application/vnd.ms-office.chartcolorstyle+xml"/>
  <Override PartName="/ppt/charts/chart13.xml" ContentType="application/vnd.openxmlformats-officedocument.drawingml.chart+xml"/>
  <Override PartName="/ppt/charts/style13.xml" ContentType="application/vnd.ms-office.chartstyle+xml"/>
  <Override PartName="/ppt/charts/colors13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9" r:id="rId3"/>
    <p:sldId id="258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3" d="100"/>
          <a:sy n="73" d="100"/>
        </p:scale>
        <p:origin x="61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.xlsx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6.xlsx"/><Relationship Id="rId2" Type="http://schemas.microsoft.com/office/2011/relationships/chartColorStyle" Target="colors6.xml"/><Relationship Id="rId1" Type="http://schemas.microsoft.com/office/2011/relationships/chartStyle" Target="style6.xml"/><Relationship Id="rId4" Type="http://schemas.openxmlformats.org/officeDocument/2006/relationships/chartUserShapes" Target="../drawings/drawing1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7.xlsx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8.xlsx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9.xlsx"/><Relationship Id="rId2" Type="http://schemas.microsoft.com/office/2011/relationships/chartColorStyle" Target="colors9.xml"/><Relationship Id="rId1" Type="http://schemas.microsoft.com/office/2011/relationships/chartStyle" Target="style9.xml"/></Relationships>
</file>

<file path=ppt/charts/_rels/chart1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0.xlsx"/><Relationship Id="rId2" Type="http://schemas.microsoft.com/office/2011/relationships/chartColorStyle" Target="colors10.xml"/><Relationship Id="rId1" Type="http://schemas.microsoft.com/office/2011/relationships/chartStyle" Target="style10.xml"/></Relationships>
</file>

<file path=ppt/charts/_rels/chart1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1.xlsx"/><Relationship Id="rId2" Type="http://schemas.microsoft.com/office/2011/relationships/chartColorStyle" Target="colors11.xml"/><Relationship Id="rId1" Type="http://schemas.microsoft.com/office/2011/relationships/chartStyle" Target="style11.xml"/></Relationships>
</file>

<file path=ppt/charts/_rels/chart1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2.xlsx"/><Relationship Id="rId2" Type="http://schemas.microsoft.com/office/2011/relationships/chartColorStyle" Target="colors12.xml"/><Relationship Id="rId1" Type="http://schemas.microsoft.com/office/2011/relationships/chartStyle" Target="style12.xml"/></Relationships>
</file>

<file path=ppt/charts/_rels/chart1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3.xlsx"/><Relationship Id="rId2" Type="http://schemas.microsoft.com/office/2011/relationships/chartColorStyle" Target="colors13.xml"/><Relationship Id="rId1" Type="http://schemas.microsoft.com/office/2011/relationships/chartStyle" Target="style1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16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HILLPARK HOTEL NAIROBI</a:t>
            </a:r>
          </a:p>
        </c:rich>
      </c:tx>
      <c:layout>
        <c:manualLayout>
          <c:xMode val="edge"/>
          <c:yMode val="edge"/>
          <c:x val="0.30106370363654"/>
          <c:y val="2.8189811769190921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16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HILLPARK HOTEL NAIROBI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8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JAN - MAY 2023</c:v>
                </c:pt>
                <c:pt idx="1">
                  <c:v>JAN - MAY 2024</c:v>
                </c:pt>
                <c:pt idx="2">
                  <c:v>2024 LOSS</c:v>
                </c:pt>
              </c:strCache>
            </c:strRef>
          </c:cat>
          <c:val>
            <c:numRef>
              <c:f>Sheet1!$B$2:$B$4</c:f>
              <c:numCache>
                <c:formatCode>#,##0.00</c:formatCode>
                <c:ptCount val="3"/>
                <c:pt idx="0" formatCode="#,##0">
                  <c:v>10000000</c:v>
                </c:pt>
                <c:pt idx="1">
                  <c:v>9489026.9399999995</c:v>
                </c:pt>
                <c:pt idx="2">
                  <c:v>510973.06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9447104"/>
        <c:axId val="288661976"/>
      </c:barChart>
      <c:catAx>
        <c:axId val="1944710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88661976"/>
        <c:crosses val="autoZero"/>
        <c:auto val="1"/>
        <c:lblAlgn val="ctr"/>
        <c:lblOffset val="100"/>
        <c:noMultiLvlLbl val="0"/>
      </c:catAx>
      <c:valAx>
        <c:axId val="28866197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44710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800"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16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DEBTORS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8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2"/>
                <c:pt idx="0">
                  <c:v>WRITE-OFF</c:v>
                </c:pt>
                <c:pt idx="1">
                  <c:v>OTHER</c:v>
                </c:pt>
              </c:strCache>
            </c:strRef>
          </c:cat>
          <c:val>
            <c:numRef>
              <c:f>Sheet1!$B$2:$B$4</c:f>
              <c:numCache>
                <c:formatCode>#,##0</c:formatCode>
                <c:ptCount val="3"/>
                <c:pt idx="0">
                  <c:v>52000000</c:v>
                </c:pt>
                <c:pt idx="1">
                  <c:v>43000000</c:v>
                </c:pt>
              </c:numCache>
            </c:numRef>
          </c:val>
        </c:ser>
        <c:dLbls>
          <c:dLblPos val="bestFi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800"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16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CREDITORS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8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</c:f>
              <c:strCache>
                <c:ptCount val="1"/>
                <c:pt idx="0">
                  <c:v>TOTAL</c:v>
                </c:pt>
              </c:strCache>
            </c:strRef>
          </c:cat>
          <c:val>
            <c:numRef>
              <c:f>Sheet1!$B$2</c:f>
              <c:numCache>
                <c:formatCode>#,##0</c:formatCode>
                <c:ptCount val="1"/>
                <c:pt idx="0">
                  <c:v>37800000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800"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92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HILLPARK HOTEL TIWI BEACH/ AMARE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6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LOSS(JAN - MAY 2024)</c:v>
                </c:pt>
                <c:pt idx="1">
                  <c:v>LOSS(JAN - MAY 2024)</c:v>
                </c:pt>
              </c:strCache>
            </c:strRef>
          </c:cat>
          <c:val>
            <c:numRef>
              <c:f>Sheet1!$B$2:$B$3</c:f>
              <c:numCache>
                <c:formatCode>#,##0</c:formatCode>
                <c:ptCount val="2"/>
                <c:pt idx="0">
                  <c:v>11700000</c:v>
                </c:pt>
                <c:pt idx="1">
                  <c:v>8700000</c:v>
                </c:pt>
              </c:numCache>
            </c:numRef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368688976"/>
        <c:axId val="368685840"/>
      </c:barChart>
      <c:catAx>
        <c:axId val="368688976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6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2023 VS 2024 LOSS COMPARISON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6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68685840"/>
        <c:crosses val="autoZero"/>
        <c:auto val="1"/>
        <c:lblAlgn val="ctr"/>
        <c:lblOffset val="100"/>
        <c:noMultiLvlLbl val="0"/>
      </c:catAx>
      <c:valAx>
        <c:axId val="36868584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6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KENYAN SHILLINGS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6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#,##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6868897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600"/>
      </a:pPr>
      <a:endParaRPr lang="en-US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16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OLEM HOUSE &amp; JADIRU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8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JAN - MAY 2023</c:v>
                </c:pt>
                <c:pt idx="1">
                  <c:v>JAN - MAY 2024</c:v>
                </c:pt>
              </c:strCache>
            </c:strRef>
          </c:cat>
          <c:val>
            <c:numRef>
              <c:f>Sheet1!$B$2:$B$3</c:f>
              <c:numCache>
                <c:formatCode>#,##0</c:formatCode>
                <c:ptCount val="2"/>
                <c:pt idx="0">
                  <c:v>1100000</c:v>
                </c:pt>
                <c:pt idx="1">
                  <c:v>1300000</c:v>
                </c:pt>
              </c:numCache>
            </c:numRef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368690152"/>
        <c:axId val="368687408"/>
      </c:barChart>
      <c:catAx>
        <c:axId val="368690152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8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NET PROFIT COMPARISON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8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68687408"/>
        <c:crosses val="autoZero"/>
        <c:auto val="1"/>
        <c:lblAlgn val="ctr"/>
        <c:lblOffset val="100"/>
        <c:noMultiLvlLbl val="0"/>
      </c:catAx>
      <c:valAx>
        <c:axId val="36868740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8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KENYAN SHILLINGS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8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#,##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6869015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800"/>
      </a:pPr>
      <a:endParaRPr lang="en-US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DEBTORS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2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GLOBAL FORTUNE</c:v>
                </c:pt>
                <c:pt idx="1">
                  <c:v>OTHER</c:v>
                </c:pt>
              </c:strCache>
            </c:strRef>
          </c:cat>
          <c:val>
            <c:numRef>
              <c:f>Sheet1!$B$2:$B$3</c:f>
              <c:numCache>
                <c:formatCode>#,##0</c:formatCode>
                <c:ptCount val="2"/>
                <c:pt idx="0">
                  <c:v>2300000</c:v>
                </c:pt>
                <c:pt idx="1">
                  <c:v>2180000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TOTAL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GLOBAL FORTUNE</c:v>
                </c:pt>
                <c:pt idx="1">
                  <c:v>OTHER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 formatCode="#,##0">
                  <c:v>4480000</c:v>
                </c:pt>
              </c:numCache>
            </c:numRef>
          </c:val>
        </c:ser>
        <c:dLbls>
          <c:dLblPos val="bestFi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userShapes r:id="rId4"/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MAWENI FARM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JAN - MAY 2023</c:v>
                </c:pt>
                <c:pt idx="1">
                  <c:v>JAN - MAY 2024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1895000</c:v>
                </c:pt>
                <c:pt idx="1">
                  <c:v>1558000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368683880"/>
        <c:axId val="368689760"/>
      </c:barChart>
      <c:catAx>
        <c:axId val="368683880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33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dirty="0" smtClean="0"/>
                  <a:t>NET</a:t>
                </a:r>
                <a:r>
                  <a:rPr lang="en-US" baseline="0" dirty="0" smtClean="0"/>
                  <a:t> LOSS</a:t>
                </a:r>
                <a:endParaRPr lang="en-US" dirty="0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33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68689760"/>
        <c:crosses val="autoZero"/>
        <c:auto val="1"/>
        <c:lblAlgn val="ctr"/>
        <c:lblOffset val="100"/>
        <c:noMultiLvlLbl val="0"/>
      </c:catAx>
      <c:valAx>
        <c:axId val="36868976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33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dirty="0" smtClean="0"/>
                  <a:t>KENYAN</a:t>
                </a:r>
                <a:r>
                  <a:rPr lang="en-US" baseline="0" dirty="0" smtClean="0"/>
                  <a:t> SHILLINGS</a:t>
                </a:r>
                <a:endParaRPr lang="en-US" dirty="0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33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6868388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 smtClean="0"/>
              <a:t>HILLPARK BUILDING</a:t>
            </a:r>
            <a:endParaRPr lang="en-US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JAN - MAY 2023</c:v>
                </c:pt>
                <c:pt idx="1">
                  <c:v>JAN - MAY 2024</c:v>
                </c:pt>
              </c:strCache>
            </c:strRef>
          </c:cat>
          <c:val>
            <c:numRef>
              <c:f>Sheet1!$B$2:$B$3</c:f>
              <c:numCache>
                <c:formatCode>#,##0</c:formatCode>
                <c:ptCount val="2"/>
                <c:pt idx="0" formatCode="General">
                  <c:v>0</c:v>
                </c:pt>
                <c:pt idx="1">
                  <c:v>22998000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NET PROFIT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JAN - MAY 2023</c:v>
                </c:pt>
                <c:pt idx="1">
                  <c:v>JAN - MAY 2024</c:v>
                </c:pt>
              </c:strCache>
            </c:strRef>
          </c:cat>
          <c:val>
            <c:numRef>
              <c:f>Sheet1!$C$2:$C$3</c:f>
              <c:numCache>
                <c:formatCode>#,##0</c:formatCode>
                <c:ptCount val="2"/>
                <c:pt idx="0" formatCode="General">
                  <c:v>0</c:v>
                </c:pt>
                <c:pt idx="1">
                  <c:v>2800000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NET LOSS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JAN - MAY 2023</c:v>
                </c:pt>
                <c:pt idx="1">
                  <c:v>JAN - MAY 2024</c:v>
                </c:pt>
              </c:strCache>
            </c: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0</c:v>
                </c:pt>
                <c:pt idx="1">
                  <c:v>0</c:v>
                </c:pt>
              </c:numCache>
            </c:numRef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368684664"/>
        <c:axId val="368686232"/>
      </c:barChart>
      <c:catAx>
        <c:axId val="36868466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68686232"/>
        <c:crosses val="autoZero"/>
        <c:auto val="1"/>
        <c:lblAlgn val="ctr"/>
        <c:lblOffset val="100"/>
        <c:noMultiLvlLbl val="0"/>
      </c:catAx>
      <c:valAx>
        <c:axId val="36868623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33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dirty="0" smtClean="0"/>
                  <a:t>KENYAN</a:t>
                </a:r>
                <a:r>
                  <a:rPr lang="en-US" baseline="0" dirty="0" smtClean="0"/>
                  <a:t> SHILLINGS</a:t>
                </a:r>
                <a:endParaRPr lang="en-US" dirty="0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33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6868466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Sheet1!$A$2:$A$2</c:f>
              <c:strCache>
                <c:ptCount val="1"/>
                <c:pt idx="0">
                  <c:v>JAN - MAY 2024</c:v>
                </c:pt>
              </c:strCache>
            </c:strRef>
          </c:cat>
          <c:val>
            <c:numRef>
              <c:f>Sheet1!$B$2:$B$2</c:f>
              <c:numCache>
                <c:formatCode>#,##0</c:formatCode>
                <c:ptCount val="1"/>
                <c:pt idx="0">
                  <c:v>4200000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BALANCES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Sheet1!$A$2:$A$2</c:f>
              <c:strCache>
                <c:ptCount val="1"/>
                <c:pt idx="0">
                  <c:v>JAN - MAY 2024</c:v>
                </c:pt>
              </c:strCache>
            </c:strRef>
          </c:cat>
          <c:val>
            <c:numRef>
              <c:f>Sheet1!$C$2:$C$2</c:f>
              <c:numCache>
                <c:formatCode>#,##0</c:formatCode>
                <c:ptCount val="1"/>
                <c:pt idx="0">
                  <c:v>679006</c:v>
                </c:pt>
              </c:numCache>
            </c:numRef>
          </c:val>
        </c:ser>
        <c:ser>
          <c:idx val="2"/>
          <c:order val="2"/>
          <c:tx>
            <c:strRef>
              <c:f>Sheet1!#REF!</c:f>
              <c:strCache>
                <c:ptCount val="1"/>
                <c:pt idx="0">
                  <c:v>#REF!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Sheet1!$A$2:$A$2</c:f>
              <c:strCache>
                <c:ptCount val="1"/>
                <c:pt idx="0">
                  <c:v>JAN - MAY 2024</c:v>
                </c:pt>
              </c:strCache>
            </c:strRef>
          </c:cat>
          <c:val>
            <c:numRef>
              <c:f>Sheet1!#REF!</c:f>
              <c:numCache>
                <c:formatCode>General</c:formatCode>
                <c:ptCount val="1"/>
                <c:pt idx="0">
                  <c:v>1</c:v>
                </c:pt>
              </c:numCache>
            </c:numRef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237446760"/>
        <c:axId val="275745384"/>
      </c:barChart>
      <c:catAx>
        <c:axId val="23744676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75745384"/>
        <c:crosses val="autoZero"/>
        <c:auto val="1"/>
        <c:lblAlgn val="ctr"/>
        <c:lblOffset val="100"/>
        <c:noMultiLvlLbl val="0"/>
      </c:catAx>
      <c:valAx>
        <c:axId val="27574538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3744676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egendEntry>
        <c:idx val="2"/>
        <c:delete val="1"/>
      </c:legendEntry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 smtClean="0"/>
              <a:t>OLPEJETA</a:t>
            </a:r>
            <a:r>
              <a:rPr lang="en-US" baseline="0" dirty="0" smtClean="0"/>
              <a:t> MANSION</a:t>
            </a:r>
            <a:endParaRPr lang="en-US" dirty="0"/>
          </a:p>
        </c:rich>
      </c:tx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</c:f>
              <c:strCache>
                <c:ptCount val="1"/>
                <c:pt idx="0">
                  <c:v>JAN - MAY 2024</c:v>
                </c:pt>
              </c:strCache>
            </c:strRef>
          </c:cat>
          <c:val>
            <c:numRef>
              <c:f>Sheet1!$B$2</c:f>
              <c:numCache>
                <c:formatCode>#,##0</c:formatCode>
                <c:ptCount val="1"/>
                <c:pt idx="0">
                  <c:v>978580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NET PROFIT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</c:f>
              <c:strCache>
                <c:ptCount val="1"/>
                <c:pt idx="0">
                  <c:v>JAN - MAY 2024</c:v>
                </c:pt>
              </c:strCache>
            </c:strRef>
          </c:cat>
          <c:val>
            <c:numRef>
              <c:f>Sheet1!$C$2</c:f>
              <c:numCache>
                <c:formatCode>#,##0</c:formatCode>
                <c:ptCount val="1"/>
                <c:pt idx="0">
                  <c:v>350006</c:v>
                </c:pt>
              </c:numCache>
            </c:numRef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288341432"/>
        <c:axId val="288340256"/>
      </c:barChart>
      <c:catAx>
        <c:axId val="28834143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88340256"/>
        <c:crosses val="autoZero"/>
        <c:auto val="1"/>
        <c:lblAlgn val="ctr"/>
        <c:lblOffset val="100"/>
        <c:noMultiLvlLbl val="0"/>
      </c:catAx>
      <c:valAx>
        <c:axId val="28834025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8834143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 smtClean="0"/>
              <a:t>BAWAN HOLDINGS</a:t>
            </a:r>
            <a:endParaRPr lang="en-US" dirty="0"/>
          </a:p>
        </c:rich>
      </c:tx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NET PROFIT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</c:f>
              <c:strCache>
                <c:ptCount val="1"/>
                <c:pt idx="0">
                  <c:v>JAN - MAY 2024</c:v>
                </c:pt>
              </c:strCache>
            </c:strRef>
          </c:cat>
          <c:val>
            <c:numRef>
              <c:f>Sheet1!$B$2</c:f>
              <c:numCache>
                <c:formatCode>#,##0</c:formatCode>
                <c:ptCount val="1"/>
                <c:pt idx="0">
                  <c:v>4200000</c:v>
                </c:pt>
              </c:numCache>
            </c:numRef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372418072"/>
        <c:axId val="372419248"/>
      </c:barChart>
      <c:catAx>
        <c:axId val="37241807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72419248"/>
        <c:crosses val="autoZero"/>
        <c:auto val="1"/>
        <c:lblAlgn val="ctr"/>
        <c:lblOffset val="100"/>
        <c:noMultiLvlLbl val="0"/>
      </c:catAx>
      <c:valAx>
        <c:axId val="37241924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7241807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 smtClean="0"/>
              <a:t>KIKUYU</a:t>
            </a:r>
            <a:r>
              <a:rPr lang="en-US" baseline="0" dirty="0" smtClean="0"/>
              <a:t> HIGHLAND AND TEA CO.LTD</a:t>
            </a:r>
            <a:endParaRPr lang="en-US" dirty="0"/>
          </a:p>
        </c:rich>
      </c:tx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NET PROFIT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</c:f>
              <c:strCache>
                <c:ptCount val="1"/>
                <c:pt idx="0">
                  <c:v>JAN - MAY 2024</c:v>
                </c:pt>
              </c:strCache>
            </c:strRef>
          </c:cat>
          <c:val>
            <c:numRef>
              <c:f>Sheet1!$B$2</c:f>
              <c:numCache>
                <c:formatCode>#,##0.00</c:formatCode>
                <c:ptCount val="1"/>
                <c:pt idx="0">
                  <c:v>23926.21</c:v>
                </c:pt>
              </c:numCache>
            </c:numRef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369306232"/>
        <c:axId val="369308976"/>
      </c:barChart>
      <c:catAx>
        <c:axId val="36930623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69308976"/>
        <c:crosses val="autoZero"/>
        <c:auto val="1"/>
        <c:lblAlgn val="ctr"/>
        <c:lblOffset val="100"/>
        <c:noMultiLvlLbl val="0"/>
      </c:catAx>
      <c:valAx>
        <c:axId val="36930897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6930623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 smtClean="0"/>
              <a:t>ENGLISH POINT</a:t>
            </a:r>
            <a:endParaRPr lang="en-US" dirty="0"/>
          </a:p>
        </c:rich>
      </c:tx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</c:f>
              <c:strCache>
                <c:ptCount val="1"/>
                <c:pt idx="0">
                  <c:v>JAN - MAY 2024</c:v>
                </c:pt>
              </c:strCache>
            </c:strRef>
          </c:cat>
          <c:val>
            <c:numRef>
              <c:f>Sheet1!$B$2</c:f>
              <c:numCache>
                <c:formatCode>#,##0</c:formatCode>
                <c:ptCount val="1"/>
                <c:pt idx="0">
                  <c:v>580000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465547184"/>
        <c:axId val="465547968"/>
      </c:barChart>
      <c:catAx>
        <c:axId val="46554718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65547968"/>
        <c:crosses val="autoZero"/>
        <c:auto val="1"/>
        <c:lblAlgn val="ctr"/>
        <c:lblOffset val="100"/>
        <c:noMultiLvlLbl val="0"/>
      </c:catAx>
      <c:valAx>
        <c:axId val="46554796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6554718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0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0.61464</cdr:x>
      <cdr:y>0.80737</cdr:y>
    </cdr:from>
    <cdr:to>
      <cdr:x>0.90875</cdr:x>
      <cdr:y>0.90138</cdr:y>
    </cdr:to>
    <cdr:sp macro="" textlink="">
      <cdr:nvSpPr>
        <cdr:cNvPr id="2" name="TextBox 1"/>
        <cdr:cNvSpPr txBox="1"/>
      </cdr:nvSpPr>
      <cdr:spPr>
        <a:xfrm xmlns:a="http://schemas.openxmlformats.org/drawingml/2006/main">
          <a:off x="4995817" y="4374849"/>
          <a:ext cx="2390503" cy="509451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square" rtlCol="0"/>
        <a:lstStyle xmlns:a="http://schemas.openxmlformats.org/drawingml/2006/main"/>
        <a:p xmlns:a="http://schemas.openxmlformats.org/drawingml/2006/main">
          <a:r>
            <a:rPr lang="en-US" sz="1800" dirty="0" smtClean="0"/>
            <a:t>TOTAL = 4,480,000</a:t>
          </a:r>
          <a:endParaRPr lang="en-US" sz="1800" dirty="0"/>
        </a:p>
      </cdr:txBody>
    </cdr:sp>
  </cdr:relSizeAnchor>
</c:userShap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F9011E-B901-44C4-9E82-13BC22B60E63}" type="datetimeFigureOut">
              <a:rPr lang="en-US" smtClean="0"/>
              <a:t>8/8/2024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DCE01-C6D4-4C75-8B8C-7AA82BDCBA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68070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F9011E-B901-44C4-9E82-13BC22B60E63}" type="datetimeFigureOut">
              <a:rPr lang="en-US" smtClean="0"/>
              <a:t>8/8/2024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DCE01-C6D4-4C75-8B8C-7AA82BDCBA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24788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F9011E-B901-44C4-9E82-13BC22B60E63}" type="datetimeFigureOut">
              <a:rPr lang="en-US" smtClean="0"/>
              <a:t>8/8/2024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DCE01-C6D4-4C75-8B8C-7AA82BDCBA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07670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F9011E-B901-44C4-9E82-13BC22B60E63}" type="datetimeFigureOut">
              <a:rPr lang="en-US" smtClean="0"/>
              <a:t>8/8/2024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DCE01-C6D4-4C75-8B8C-7AA82BDCBA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69444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F9011E-B901-44C4-9E82-13BC22B60E63}" type="datetimeFigureOut">
              <a:rPr lang="en-US" smtClean="0"/>
              <a:t>8/8/2024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DCE01-C6D4-4C75-8B8C-7AA82BDCBA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9396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F9011E-B901-44C4-9E82-13BC22B60E63}" type="datetimeFigureOut">
              <a:rPr lang="en-US" smtClean="0"/>
              <a:t>8/8/2024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DCE01-C6D4-4C75-8B8C-7AA82BDCBA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52594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F9011E-B901-44C4-9E82-13BC22B60E63}" type="datetimeFigureOut">
              <a:rPr lang="en-US" smtClean="0"/>
              <a:t>8/8/2024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DCE01-C6D4-4C75-8B8C-7AA82BDCBA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93862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F9011E-B901-44C4-9E82-13BC22B60E63}" type="datetimeFigureOut">
              <a:rPr lang="en-US" smtClean="0"/>
              <a:t>8/8/2024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DCE01-C6D4-4C75-8B8C-7AA82BDCBA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7875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F9011E-B901-44C4-9E82-13BC22B60E63}" type="datetimeFigureOut">
              <a:rPr lang="en-US" smtClean="0"/>
              <a:t>8/8/2024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DCE01-C6D4-4C75-8B8C-7AA82BDCBA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69578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F9011E-B901-44C4-9E82-13BC22B60E63}" type="datetimeFigureOut">
              <a:rPr lang="en-US" smtClean="0"/>
              <a:t>8/8/2024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DCE01-C6D4-4C75-8B8C-7AA82BDCBA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09701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F9011E-B901-44C4-9E82-13BC22B60E63}" type="datetimeFigureOut">
              <a:rPr lang="en-US" smtClean="0"/>
              <a:t>8/8/2024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DCE01-C6D4-4C75-8B8C-7AA82BDCBA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15156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F9011E-B901-44C4-9E82-13BC22B60E63}" type="datetimeFigureOut">
              <a:rPr lang="en-US" smtClean="0"/>
              <a:t>8/8/2024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0DCE01-C6D4-4C75-8B8C-7AA82BDCBA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3071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7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8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9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0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1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2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Chart 6"/>
          <p:cNvGraphicFramePr/>
          <p:nvPr>
            <p:extLst>
              <p:ext uri="{D42A27DB-BD31-4B8C-83A1-F6EECF244321}">
                <p14:modId xmlns:p14="http://schemas.microsoft.com/office/powerpoint/2010/main" val="141387188"/>
              </p:ext>
            </p:extLst>
          </p:nvPr>
        </p:nvGraphicFramePr>
        <p:xfrm>
          <a:off x="2463074" y="326571"/>
          <a:ext cx="7321006" cy="479406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2163805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Chart 4"/>
          <p:cNvGraphicFramePr/>
          <p:nvPr>
            <p:extLst>
              <p:ext uri="{D42A27DB-BD31-4B8C-83A1-F6EECF244321}">
                <p14:modId xmlns:p14="http://schemas.microsoft.com/office/powerpoint/2010/main" val="3436972987"/>
              </p:ext>
            </p:extLst>
          </p:nvPr>
        </p:nvGraphicFramePr>
        <p:xfrm>
          <a:off x="1" y="966651"/>
          <a:ext cx="5669280" cy="50422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9" name="Chart 8"/>
          <p:cNvGraphicFramePr/>
          <p:nvPr>
            <p:extLst>
              <p:ext uri="{D42A27DB-BD31-4B8C-83A1-F6EECF244321}">
                <p14:modId xmlns:p14="http://schemas.microsoft.com/office/powerpoint/2010/main" val="316166776"/>
              </p:ext>
            </p:extLst>
          </p:nvPr>
        </p:nvGraphicFramePr>
        <p:xfrm>
          <a:off x="6204857" y="966651"/>
          <a:ext cx="5734593" cy="517168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148149" y="339634"/>
            <a:ext cx="46242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HILLPARK NAIROBI DEBTORS VS CREDITORS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69989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hart 3"/>
          <p:cNvGraphicFramePr/>
          <p:nvPr>
            <p:extLst>
              <p:ext uri="{D42A27DB-BD31-4B8C-83A1-F6EECF244321}">
                <p14:modId xmlns:p14="http://schemas.microsoft.com/office/powerpoint/2010/main" val="1623571653"/>
              </p:ext>
            </p:extLst>
          </p:nvPr>
        </p:nvGraphicFramePr>
        <p:xfrm>
          <a:off x="2032000" y="719666"/>
          <a:ext cx="8128000" cy="54186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9748064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hart 3"/>
          <p:cNvGraphicFramePr/>
          <p:nvPr>
            <p:extLst>
              <p:ext uri="{D42A27DB-BD31-4B8C-83A1-F6EECF244321}">
                <p14:modId xmlns:p14="http://schemas.microsoft.com/office/powerpoint/2010/main" val="2104404611"/>
              </p:ext>
            </p:extLst>
          </p:nvPr>
        </p:nvGraphicFramePr>
        <p:xfrm>
          <a:off x="2032000" y="719666"/>
          <a:ext cx="8128000" cy="54186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7068605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Chart 4"/>
          <p:cNvGraphicFramePr/>
          <p:nvPr>
            <p:extLst>
              <p:ext uri="{D42A27DB-BD31-4B8C-83A1-F6EECF244321}">
                <p14:modId xmlns:p14="http://schemas.microsoft.com/office/powerpoint/2010/main" val="4214536276"/>
              </p:ext>
            </p:extLst>
          </p:nvPr>
        </p:nvGraphicFramePr>
        <p:xfrm>
          <a:off x="1796869" y="497597"/>
          <a:ext cx="8128000" cy="54186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4998055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hart 3"/>
          <p:cNvGraphicFramePr/>
          <p:nvPr>
            <p:extLst>
              <p:ext uri="{D42A27DB-BD31-4B8C-83A1-F6EECF244321}">
                <p14:modId xmlns:p14="http://schemas.microsoft.com/office/powerpoint/2010/main" val="1222015720"/>
              </p:ext>
            </p:extLst>
          </p:nvPr>
        </p:nvGraphicFramePr>
        <p:xfrm>
          <a:off x="2032000" y="719666"/>
          <a:ext cx="8128000" cy="54186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0178717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hart 3"/>
          <p:cNvGraphicFramePr/>
          <p:nvPr>
            <p:extLst>
              <p:ext uri="{D42A27DB-BD31-4B8C-83A1-F6EECF244321}">
                <p14:modId xmlns:p14="http://schemas.microsoft.com/office/powerpoint/2010/main" val="1575634769"/>
              </p:ext>
            </p:extLst>
          </p:nvPr>
        </p:nvGraphicFramePr>
        <p:xfrm>
          <a:off x="2032000" y="719666"/>
          <a:ext cx="8128000" cy="54186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2248548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hart 3"/>
          <p:cNvGraphicFramePr/>
          <p:nvPr>
            <p:extLst>
              <p:ext uri="{D42A27DB-BD31-4B8C-83A1-F6EECF244321}">
                <p14:modId xmlns:p14="http://schemas.microsoft.com/office/powerpoint/2010/main" val="2986892392"/>
              </p:ext>
            </p:extLst>
          </p:nvPr>
        </p:nvGraphicFramePr>
        <p:xfrm>
          <a:off x="2032000" y="719666"/>
          <a:ext cx="8128000" cy="54186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42681023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hart 3"/>
          <p:cNvGraphicFramePr/>
          <p:nvPr>
            <p:extLst>
              <p:ext uri="{D42A27DB-BD31-4B8C-83A1-F6EECF244321}">
                <p14:modId xmlns:p14="http://schemas.microsoft.com/office/powerpoint/2010/main" val="1228010220"/>
              </p:ext>
            </p:extLst>
          </p:nvPr>
        </p:nvGraphicFramePr>
        <p:xfrm>
          <a:off x="2032000" y="719666"/>
          <a:ext cx="8128000" cy="54186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6857471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hart 3"/>
          <p:cNvGraphicFramePr/>
          <p:nvPr>
            <p:extLst>
              <p:ext uri="{D42A27DB-BD31-4B8C-83A1-F6EECF244321}">
                <p14:modId xmlns:p14="http://schemas.microsoft.com/office/powerpoint/2010/main" val="1752712542"/>
              </p:ext>
            </p:extLst>
          </p:nvPr>
        </p:nvGraphicFramePr>
        <p:xfrm>
          <a:off x="2032000" y="719666"/>
          <a:ext cx="8128000" cy="54186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9126379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hart 3"/>
          <p:cNvGraphicFramePr/>
          <p:nvPr>
            <p:extLst>
              <p:ext uri="{D42A27DB-BD31-4B8C-83A1-F6EECF244321}">
                <p14:modId xmlns:p14="http://schemas.microsoft.com/office/powerpoint/2010/main" val="2781599427"/>
              </p:ext>
            </p:extLst>
          </p:nvPr>
        </p:nvGraphicFramePr>
        <p:xfrm>
          <a:off x="2032000" y="719666"/>
          <a:ext cx="8128000" cy="54186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8733605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hart 3"/>
          <p:cNvGraphicFramePr/>
          <p:nvPr>
            <p:extLst>
              <p:ext uri="{D42A27DB-BD31-4B8C-83A1-F6EECF244321}">
                <p14:modId xmlns:p14="http://schemas.microsoft.com/office/powerpoint/2010/main" val="3592286757"/>
              </p:ext>
            </p:extLst>
          </p:nvPr>
        </p:nvGraphicFramePr>
        <p:xfrm>
          <a:off x="2032000" y="719666"/>
          <a:ext cx="8128000" cy="54186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6857987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1139</TotalTime>
  <Words>56</Words>
  <Application>Microsoft Office PowerPoint</Application>
  <PresentationFormat>Widescreen</PresentationFormat>
  <Paragraphs>22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Ian Ndung'u</dc:creator>
  <cp:lastModifiedBy>Ian Ndung'u</cp:lastModifiedBy>
  <cp:revision>23</cp:revision>
  <dcterms:created xsi:type="dcterms:W3CDTF">2024-08-06T07:48:32Z</dcterms:created>
  <dcterms:modified xsi:type="dcterms:W3CDTF">2024-08-08T05:46:16Z</dcterms:modified>
</cp:coreProperties>
</file>